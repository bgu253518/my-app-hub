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1463040"/>
            <a:ext cx="8229600" cy="914400"/>
          </a:xfrm>
          <a:prstGeom prst="rect">
            <a:avLst/>
          </a:prstGeom>
          <a:noFill/>
          <a:ln/>
        </p:spPr>
        <p:txBody>
          <a:bodyPr wrap="square" rtlCol="0" anchor="ctr"/>
          <a:lstStyle/>
          <a:p>
            <a:pPr algn="ctr" indent="0" marL="0">
              <a:buNone/>
            </a:pPr>
            <a:r>
              <a:rPr lang="en-US" sz="5200" b="1" dirty="0">
                <a:solidFill>
                  <a:srgbClr val="86BC25"/>
                </a:solidFill>
                <a:latin typeface="Arial" pitchFamily="34" charset="0"/>
                <a:ea typeface="Arial" pitchFamily="34" charset="-122"/>
                <a:cs typeface="Arial" pitchFamily="34" charset="-120"/>
              </a:rPr>
              <a:t>NOVA AGENT</a:t>
            </a:r>
            <a:endParaRPr lang="en-US" sz="5200" dirty="0"/>
          </a:p>
        </p:txBody>
      </p:sp>
      <p:sp>
        <p:nvSpPr>
          <p:cNvPr id="3" name="Text 1"/>
          <p:cNvSpPr/>
          <p:nvPr/>
        </p:nvSpPr>
        <p:spPr>
          <a:xfrm>
            <a:off x="457200" y="2286000"/>
            <a:ext cx="8229600" cy="640080"/>
          </a:xfrm>
          <a:prstGeom prst="rect">
            <a:avLst/>
          </a:prstGeom>
          <a:noFill/>
          <a:ln/>
        </p:spPr>
        <p:txBody>
          <a:bodyPr wrap="square" rtlCol="0" anchor="ctr"/>
          <a:lstStyle/>
          <a:p>
            <a:pPr algn="ctr" indent="0" marL="0">
              <a:buNone/>
            </a:pPr>
            <a:r>
              <a:rPr lang="en-US" sz="3000" b="1" dirty="0">
                <a:solidFill>
                  <a:srgbClr val="FFFFFF"/>
                </a:solidFill>
                <a:latin typeface="Microsoft YaHei" pitchFamily="34" charset="0"/>
                <a:ea typeface="Microsoft YaHei" pitchFamily="34" charset="-122"/>
                <a:cs typeface="Microsoft YaHei" pitchFamily="34" charset="-120"/>
              </a:rPr>
              <a:t>GDC审计团队专用教学</a:t>
            </a:r>
            <a:endParaRPr lang="en-US" sz="3000" dirty="0"/>
          </a:p>
        </p:txBody>
      </p:sp>
      <p:sp>
        <p:nvSpPr>
          <p:cNvPr id="4" name="Text 2"/>
          <p:cNvSpPr/>
          <p:nvPr/>
        </p:nvSpPr>
        <p:spPr>
          <a:xfrm>
            <a:off x="457200" y="2926080"/>
            <a:ext cx="8229600" cy="457200"/>
          </a:xfrm>
          <a:prstGeom prst="rect">
            <a:avLst/>
          </a:prstGeom>
          <a:noFill/>
          <a:ln/>
        </p:spPr>
        <p:txBody>
          <a:bodyPr wrap="square" rtlCol="0" anchor="ctr"/>
          <a:lstStyle/>
          <a:p>
            <a:pPr algn="ctr" indent="0" marL="0">
              <a:buNone/>
            </a:pPr>
            <a:r>
              <a:rPr lang="en-US" sz="1500" dirty="0">
                <a:solidFill>
                  <a:srgbClr val="A0AEC0"/>
                </a:solidFill>
                <a:latin typeface="Microsoft YaHei" pitchFamily="34" charset="0"/>
                <a:ea typeface="Microsoft YaHei" pitchFamily="34" charset="-122"/>
                <a:cs typeface="Microsoft YaHei" pitchFamily="34" charset="-120"/>
              </a:rPr>
              <a:t>8大核心功能模块 | 实质性分析程序 / 细节测试 / 样本录入 / 数据整理 / 信息查询</a:t>
            </a:r>
            <a:endParaRPr lang="en-US" sz="1500" dirty="0"/>
          </a:p>
        </p:txBody>
      </p:sp>
      <p:sp>
        <p:nvSpPr>
          <p:cNvPr id="5" name="Text 3"/>
          <p:cNvSpPr/>
          <p:nvPr/>
        </p:nvSpPr>
        <p:spPr>
          <a:xfrm>
            <a:off x="457200" y="3474720"/>
            <a:ext cx="8229600" cy="365760"/>
          </a:xfrm>
          <a:prstGeom prst="rect">
            <a:avLst/>
          </a:prstGeom>
          <a:noFill/>
          <a:ln/>
        </p:spPr>
        <p:txBody>
          <a:bodyPr wrap="square" rtlCol="0" anchor="ctr"/>
          <a:lstStyle/>
          <a:p>
            <a:pPr algn="ctr" indent="0" marL="0">
              <a:buNone/>
            </a:pPr>
            <a:r>
              <a:rPr lang="en-US" sz="1300" dirty="0">
                <a:solidFill>
                  <a:srgbClr val="A0AEC0"/>
                </a:solidFill>
                <a:latin typeface="Microsoft YaHei" pitchFamily="34" charset="0"/>
                <a:ea typeface="Microsoft YaHei" pitchFamily="34" charset="-122"/>
                <a:cs typeface="Microsoft YaHei" pitchFamily="34" charset="-120"/>
              </a:rPr>
              <a:t>每功能5页：WHY → WHEN → HOW → HOW详情 → WATCH OUT</a:t>
            </a:r>
            <a:endParaRPr lang="en-US" sz="1300" dirty="0"/>
          </a:p>
        </p:txBody>
      </p:sp>
      <p:sp>
        <p:nvSpPr>
          <p:cNvPr id="6" name="Text 4"/>
          <p:cNvSpPr/>
          <p:nvPr/>
        </p:nvSpPr>
        <p:spPr>
          <a:xfrm>
            <a:off x="457200" y="4480560"/>
            <a:ext cx="8229600" cy="274320"/>
          </a:xfrm>
          <a:prstGeom prst="rect">
            <a:avLst/>
          </a:prstGeom>
          <a:noFill/>
          <a:ln/>
        </p:spPr>
        <p:txBody>
          <a:bodyPr wrap="square" rtlCol="0" anchor="ctr"/>
          <a:lstStyle/>
          <a:p>
            <a:pPr algn="ctr" indent="0" marL="0">
              <a:buNone/>
            </a:pPr>
            <a:r>
              <a:rPr lang="en-US" sz="1100" dirty="0">
                <a:solidFill>
                  <a:srgbClr val="718096"/>
                </a:solidFill>
                <a:latin typeface="Arial" pitchFamily="34" charset="0"/>
                <a:ea typeface="Arial" pitchFamily="34" charset="-122"/>
                <a:cs typeface="Arial" pitchFamily="34" charset="-120"/>
              </a:rPr>
              <a:t>GDC Delivery Center | 2026</a:t>
            </a:r>
            <a:endParaRPr lang="en-US" sz="1100" dirty="0"/>
          </a:p>
        </p:txBody>
      </p:sp>
      <p:sp>
        <p:nvSpPr>
          <p:cNvPr id="7" name="Shape 5"/>
          <p:cNvSpPr/>
          <p:nvPr/>
        </p:nvSpPr>
        <p:spPr>
          <a:xfrm>
            <a:off x="8503920" y="4663440"/>
            <a:ext cx="365760" cy="365760"/>
          </a:xfrm>
          <a:prstGeom prst="ellipse">
            <a:avLst/>
          </a:prstGeom>
          <a:solidFill>
            <a:srgbClr val="86BC25"/>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548640"/>
            <a:ext cx="8229600" cy="731520"/>
          </a:xfrm>
          <a:prstGeom prst="rect">
            <a:avLst/>
          </a:prstGeom>
          <a:noFill/>
          <a:ln/>
        </p:spPr>
        <p:txBody>
          <a:bodyPr wrap="square" rtlCol="0" anchor="ctr"/>
          <a:lstStyle/>
          <a:p>
            <a:pPr algn="l" indent="0" marL="0">
              <a:buNone/>
            </a:pPr>
            <a:r>
              <a:rPr lang="en-US" sz="3600" b="1" dirty="0">
                <a:solidFill>
                  <a:srgbClr val="1E3A5F"/>
                </a:solidFill>
                <a:latin typeface="Microsoft YaHei" pitchFamily="34" charset="0"/>
                <a:ea typeface="Microsoft YaHei" pitchFamily="34" charset="-122"/>
                <a:cs typeface="Microsoft YaHei" pitchFamily="34" charset="-120"/>
              </a:rPr>
              <a:t>目录</a:t>
            </a:r>
            <a:endParaRPr lang="en-US" sz="3600" dirty="0"/>
          </a:p>
        </p:txBody>
      </p:sp>
      <p:sp>
        <p:nvSpPr>
          <p:cNvPr id="3" name="Shape 1"/>
          <p:cNvSpPr/>
          <p:nvPr/>
        </p:nvSpPr>
        <p:spPr>
          <a:xfrm>
            <a:off x="457200" y="1371600"/>
            <a:ext cx="8229600" cy="438912"/>
          </a:xfrm>
          <a:prstGeom prst="rect">
            <a:avLst/>
          </a:prstGeom>
          <a:solidFill>
            <a:srgbClr val="FFFFFF"/>
          </a:solidFill>
          <a:ln/>
        </p:spPr>
      </p:sp>
      <p:sp>
        <p:nvSpPr>
          <p:cNvPr id="4" name="Text 2"/>
          <p:cNvSpPr/>
          <p:nvPr/>
        </p:nvSpPr>
        <p:spPr>
          <a:xfrm>
            <a:off x="640080" y="1444752"/>
            <a:ext cx="7863840" cy="320040"/>
          </a:xfrm>
          <a:prstGeom prst="rect">
            <a:avLst/>
          </a:prstGeom>
          <a:noFill/>
          <a:ln/>
        </p:spPr>
        <p:txBody>
          <a:bodyPr wrap="square" rtlCol="0" anchor="ctr"/>
          <a:lstStyle/>
          <a:p>
            <a:pPr algn="l" indent="0" marL="0">
              <a:buNone/>
            </a:pPr>
            <a:r>
              <a:rPr lang="en-US" sz="1400" b="1" dirty="0">
                <a:solidFill>
                  <a:srgbClr val="2D3748"/>
                </a:solidFill>
                <a:latin typeface="Microsoft YaHei" pitchFamily="34" charset="0"/>
                <a:ea typeface="Microsoft YaHei" pitchFamily="34" charset="-122"/>
                <a:cs typeface="Microsoft YaHei" pitchFamily="34" charset="-120"/>
              </a:rPr>
              <a:t>F01  智能搜索与网页抓取 — GDC审计技术查询与准则查证</a:t>
            </a:r>
            <a:endParaRPr lang="en-US" sz="1400" dirty="0"/>
          </a:p>
        </p:txBody>
      </p:sp>
      <p:sp>
        <p:nvSpPr>
          <p:cNvPr id="5" name="Shape 3"/>
          <p:cNvSpPr/>
          <p:nvPr/>
        </p:nvSpPr>
        <p:spPr>
          <a:xfrm>
            <a:off x="457200" y="1847088"/>
            <a:ext cx="8229600" cy="438912"/>
          </a:xfrm>
          <a:prstGeom prst="rect">
            <a:avLst/>
          </a:prstGeom>
          <a:solidFill>
            <a:srgbClr val="EDF2F7"/>
          </a:solidFill>
          <a:ln/>
        </p:spPr>
      </p:sp>
      <p:sp>
        <p:nvSpPr>
          <p:cNvPr id="6" name="Text 4"/>
          <p:cNvSpPr/>
          <p:nvPr/>
        </p:nvSpPr>
        <p:spPr>
          <a:xfrm>
            <a:off x="640080" y="1920240"/>
            <a:ext cx="7863840" cy="320040"/>
          </a:xfrm>
          <a:prstGeom prst="rect">
            <a:avLst/>
          </a:prstGeom>
          <a:noFill/>
          <a:ln/>
        </p:spPr>
        <p:txBody>
          <a:bodyPr wrap="square" rtlCol="0" anchor="ctr"/>
          <a:lstStyle/>
          <a:p>
            <a:pPr algn="l" indent="0" marL="0">
              <a:buNone/>
            </a:pPr>
            <a:r>
              <a:rPr lang="en-US" sz="1400" b="1" dirty="0">
                <a:solidFill>
                  <a:srgbClr val="2D3748"/>
                </a:solidFill>
                <a:latin typeface="Microsoft YaHei" pitchFamily="34" charset="0"/>
                <a:ea typeface="Microsoft YaHei" pitchFamily="34" charset="-122"/>
                <a:cs typeface="Microsoft YaHei" pitchFamily="34" charset="-120"/>
              </a:rPr>
              <a:t>F04  Excel表格处理 — 审计分析程序与数据建模自动化</a:t>
            </a:r>
            <a:endParaRPr lang="en-US" sz="1400" dirty="0"/>
          </a:p>
        </p:txBody>
      </p:sp>
      <p:sp>
        <p:nvSpPr>
          <p:cNvPr id="7" name="Shape 5"/>
          <p:cNvSpPr/>
          <p:nvPr/>
        </p:nvSpPr>
        <p:spPr>
          <a:xfrm>
            <a:off x="457200" y="2322576"/>
            <a:ext cx="8229600" cy="438912"/>
          </a:xfrm>
          <a:prstGeom prst="rect">
            <a:avLst/>
          </a:prstGeom>
          <a:solidFill>
            <a:srgbClr val="FFFFFF"/>
          </a:solidFill>
          <a:ln/>
        </p:spPr>
      </p:sp>
      <p:sp>
        <p:nvSpPr>
          <p:cNvPr id="8" name="Text 6"/>
          <p:cNvSpPr/>
          <p:nvPr/>
        </p:nvSpPr>
        <p:spPr>
          <a:xfrm>
            <a:off x="640080" y="2395728"/>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F05  PDF智能解析 — 银行对账单与函证批量识别提取</a:t>
            </a:r>
            <a:endParaRPr lang="en-US" sz="1400" dirty="0"/>
          </a:p>
        </p:txBody>
      </p:sp>
      <p:sp>
        <p:nvSpPr>
          <p:cNvPr id="9" name="Shape 7"/>
          <p:cNvSpPr/>
          <p:nvPr/>
        </p:nvSpPr>
        <p:spPr>
          <a:xfrm>
            <a:off x="457200" y="2798064"/>
            <a:ext cx="8229600" cy="438912"/>
          </a:xfrm>
          <a:prstGeom prst="rect">
            <a:avLst/>
          </a:prstGeom>
          <a:solidFill>
            <a:srgbClr val="EDF2F7"/>
          </a:solidFill>
          <a:ln/>
        </p:spPr>
      </p:sp>
      <p:sp>
        <p:nvSpPr>
          <p:cNvPr id="10" name="Text 8"/>
          <p:cNvSpPr/>
          <p:nvPr/>
        </p:nvSpPr>
        <p:spPr>
          <a:xfrm>
            <a:off x="640080" y="2871216"/>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F09  财务报表API — A股/港股上市公司财务数据批量获取</a:t>
            </a:r>
            <a:endParaRPr lang="en-US" sz="1400" dirty="0"/>
          </a:p>
        </p:txBody>
      </p:sp>
      <p:sp>
        <p:nvSpPr>
          <p:cNvPr id="11" name="Shape 9"/>
          <p:cNvSpPr/>
          <p:nvPr/>
        </p:nvSpPr>
        <p:spPr>
          <a:xfrm>
            <a:off x="457200" y="3273552"/>
            <a:ext cx="8229600" cy="438912"/>
          </a:xfrm>
          <a:prstGeom prst="rect">
            <a:avLst/>
          </a:prstGeom>
          <a:solidFill>
            <a:srgbClr val="FFFFFF"/>
          </a:solidFill>
          <a:ln/>
        </p:spPr>
      </p:sp>
      <p:sp>
        <p:nvSpPr>
          <p:cNvPr id="12" name="Text 10"/>
          <p:cNvSpPr/>
          <p:nvPr/>
        </p:nvSpPr>
        <p:spPr>
          <a:xfrm>
            <a:off x="640080" y="3346704"/>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F03  Word文档处理 — 审计发现与函证文档自动化生成</a:t>
            </a:r>
            <a:endParaRPr lang="en-US" sz="1400" dirty="0"/>
          </a:p>
        </p:txBody>
      </p:sp>
      <p:sp>
        <p:nvSpPr>
          <p:cNvPr id="13" name="Shape 11"/>
          <p:cNvSpPr/>
          <p:nvPr/>
        </p:nvSpPr>
        <p:spPr>
          <a:xfrm>
            <a:off x="457200" y="3749040"/>
            <a:ext cx="8229600" cy="438912"/>
          </a:xfrm>
          <a:prstGeom prst="rect">
            <a:avLst/>
          </a:prstGeom>
          <a:solidFill>
            <a:srgbClr val="EDF2F7"/>
          </a:solidFill>
          <a:ln/>
        </p:spPr>
      </p:sp>
      <p:sp>
        <p:nvSpPr>
          <p:cNvPr id="14" name="Text 12"/>
          <p:cNvSpPr/>
          <p:nvPr/>
        </p:nvSpPr>
        <p:spPr>
          <a:xfrm>
            <a:off x="640080" y="3822192"/>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F12  图片OCR与分析 — 样本凭证扫描件智能识别录入</a:t>
            </a:r>
            <a:endParaRPr lang="en-US" sz="1400" dirty="0"/>
          </a:p>
        </p:txBody>
      </p:sp>
      <p:sp>
        <p:nvSpPr>
          <p:cNvPr id="15" name="Shape 13"/>
          <p:cNvSpPr/>
          <p:nvPr/>
        </p:nvSpPr>
        <p:spPr>
          <a:xfrm>
            <a:off x="457200" y="4224528"/>
            <a:ext cx="8229600" cy="438912"/>
          </a:xfrm>
          <a:prstGeom prst="rect">
            <a:avLst/>
          </a:prstGeom>
          <a:solidFill>
            <a:srgbClr val="FFFFFF"/>
          </a:solidFill>
          <a:ln/>
        </p:spPr>
      </p:sp>
      <p:sp>
        <p:nvSpPr>
          <p:cNvPr id="16" name="Text 14"/>
          <p:cNvSpPr/>
          <p:nvPr/>
        </p:nvSpPr>
        <p:spPr>
          <a:xfrm>
            <a:off x="640080" y="4297680"/>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F07  公司信息查询 — 客户与供应商背景快速核查</a:t>
            </a:r>
            <a:endParaRPr lang="en-US" sz="1400" dirty="0"/>
          </a:p>
        </p:txBody>
      </p:sp>
      <p:sp>
        <p:nvSpPr>
          <p:cNvPr id="17" name="Shape 15"/>
          <p:cNvSpPr/>
          <p:nvPr/>
        </p:nvSpPr>
        <p:spPr>
          <a:xfrm>
            <a:off x="457200" y="4700016"/>
            <a:ext cx="8229600" cy="438912"/>
          </a:xfrm>
          <a:prstGeom prst="rect">
            <a:avLst/>
          </a:prstGeom>
          <a:solidFill>
            <a:srgbClr val="EDF2F7"/>
          </a:solidFill>
          <a:ln/>
        </p:spPr>
      </p:sp>
      <p:sp>
        <p:nvSpPr>
          <p:cNvPr id="18" name="Text 16"/>
          <p:cNvSpPr/>
          <p:nvPr/>
        </p:nvSpPr>
        <p:spPr>
          <a:xfrm>
            <a:off x="640080" y="4773168"/>
            <a:ext cx="7863840" cy="320040"/>
          </a:xfrm>
          <a:prstGeom prst="rect">
            <a:avLst/>
          </a:prstGeom>
          <a:noFill/>
          <a:ln/>
        </p:spPr>
        <p:txBody>
          <a:bodyPr wrap="square" rtlCol="0" anchor="ctr"/>
          <a:lstStyle/>
          <a:p>
            <a:pPr algn="l" indent="0" marL="0">
              <a:buNone/>
            </a:pPr>
            <a:r>
              <a:rPr lang="en-US" sz="1400" dirty="0">
                <a:solidFill>
                  <a:srgbClr val="2D3748"/>
                </a:solidFill>
                <a:latin typeface="Microsoft YaHei" pitchFamily="34" charset="0"/>
                <a:ea typeface="Microsoft YaHei" pitchFamily="34" charset="-122"/>
                <a:cs typeface="Microsoft YaHei" pitchFamily="34" charset="-120"/>
              </a:rPr>
              <a:t>F11  数据汇报PPT生成 — 分析结果可视化与团队内部汇报</a:t>
            </a:r>
            <a:endParaRPr lang="en-US" sz="1400" dirty="0"/>
          </a:p>
        </p:txBody>
      </p:sp>
      <p:sp>
        <p:nvSpPr>
          <p:cNvPr id="19" name="Shape 17"/>
          <p:cNvSpPr/>
          <p:nvPr/>
        </p:nvSpPr>
        <p:spPr>
          <a:xfrm>
            <a:off x="8503920" y="4663440"/>
            <a:ext cx="365760" cy="365760"/>
          </a:xfrm>
          <a:prstGeom prst="ellipse">
            <a:avLst/>
          </a:prstGeom>
          <a:solidFill>
            <a:srgbClr val="86BC25"/>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F01</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智能搜索与网页抓取</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GDC审计技术查询与准则查证</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F01  智能搜索与网页抓取</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GDC同事每天面对客户导出的Excel和SAP数据，最头疼的是遇到看不懂的科目名称。</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比如客户账上有一笔'其他应付款——员工挂账'余额800万，该挂'其他应付款'还是该重分类成'应付职工薪酬'？Field同事可能问你一句，你翻准则翻半小时。</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再比如，客户有一笔500万的'营业外支出'，你怀疑应该入'资产减值损失'，但不确定具体用哪个准则。</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智能搜索就是帮你在1-2分钟内找到权威答案，不用一个个网站去翻，也不用在海量结果里挑有用的。</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Why解释：GDC工作的核心是执行规定动作，遇到拿不准的科目归属和会计处理，不能自己拍脑袋决定。快速找到准则依据，既能保证底稿不出错，也能在第一时间回答Field团队的追问，减少被退回修改的次数。</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F01  智能搜索与网页抓取</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F01 -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场景1：科目分类拿不准时</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客户SAP导出后，你看到科目'其他应收款——押金'余额200万，不确定是否应归入'应收票据'还是保持不动。用精准搜索1分钟就能找到权威判断依据。</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场景2：大额异常交易不知道入什么科目时</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客户有一笔'营业外支出'500万，Field同事说'先判断一下是不是减值损失'。你需要确认这笔钱的性质和适用准则，而不是直接按客户分类照抄。</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场景3：细节测试中需要引用准则条文时</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比如你做收入确认细节测试，客户用的是总额法，但你说不准这个判断对不对。需要快速查证收入准则关于总额法/净额法的适用条件作为底稿支撑。</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F01  智能搜索与网页抓取</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F01 -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第一步：想清楚你的问题是什么，提炼关键词</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不要只搜一个科目名，要把问题拆解为'科目 + 场景 + 准则/年份'。比如不要搜'应付账款'，要搜'预付账款 和其他应收款 区别 会计准则'。</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第二步：用高级语法限定权威来源</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用site:gov.cn限定政府域名，filetype:pdf找正式文件，用英文引号精确匹配短语。比如：site:mof.gov.cn '收入确认' 总额法 净额法 2024。</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【截图占位】展示NOVA智能搜索指令输入和结构化结果输出</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F01  智能搜索与网页抓取</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F01 -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GDC同事最常用的3条搜索指令（可直接复制修改）</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指令1（查科目区分）：site:mof.gov.cn '预付账款' '其他应收款' 区别 会计准则</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指令2（查准则条文）：site:csrc.gov.cn '收入确认' 总额法 净额法 监管要求</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指令3（查行业处理）：'XX行业' '原材料采购' 会计处理 准则解释</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原因：直接搜科目名会返回大量百度知道、论坛帖子，用site限定财政部官网才能找到准则原文。</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信息来源可信度排序（排入底稿前先看这里）</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可以直接引用的（一级）：财政部官网、证监会公告、会计准则委员会文件、税务总局法规库</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可以参考但需核实的（二级）：四大发布的行业指南、证券报、行业协会公告</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不能当作审计依据的（三级）：知乎、百度知道、自媒体文章、论坛讨论</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底线：三级来源绝不入底稿，二级来源可以辅助理解但核心判断必须有一级来源支撑。</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F01  智能搜索与网页抓取</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F01 -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错误案例：搜'应收账款怎么审计'，返回结果全是百度经验</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正确做法：加上限定词'应收账款 减值测试 审计程序 财政部 site:gov.cn'。加上site和具体场景词，结果精准度提升5-10倍。</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错误案例：从搜狐财经文章里抄了一段准则解释，放进了底稿</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正确做法：底稿的准则依据只能来自财政部/证监会官网或公司发布的准则文件。媒体文章只供你理解，不能作为审计证据。万一被质控抽查，会认定为底稿支持不足。</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给出一个具体场景：客户科目'其他应付款——员工挂账'余额800万，3个小组分别用不同搜索词去查，对比谁的结果最先找到权威依据，讨论各自的搜索策略优劣。</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F04</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Excel表格处理</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审计分析程序与数据建模自动化</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F04  Excel表格处理</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GDC日常最多的工作，就是在Excel里验证客户的财务数据。</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实质性分析程序要求你做趋势分析、比率分析、合理性测试。客户给你12个月的收入明细，你要算同比、环比、找出异常月份并标注原因。</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细节测试要求你计算抽样量、随机选样、生成样本清单。手工建公式不仅慢，而且SUM范围写错、VLOOKUP引用错位这类小错误一旦发生，整个底稿都要推翻重来。</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用NOVA自动生成分析模板，你拿到的是一个带公式、带图表的现成Excel。你只需填入数据，公式就会自动计算。</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Why解释：假设你每周做3套分析程序，每套手工做1.5小时。一年下来光是建公式就要花200+小时。用模板每次节省1小时以上，省下来的时间可以用来做更细致的质量复核，减少被Field退回的概率。</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F04  Excel表格处理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F04 -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场景1：执行实质性分析程序时</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客户给了12个月的销售收入明细表，你需要生成趋势分析图（看哪个月骤升/骤降）、同比环比表、毛利率变动表。</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场景2：细节测试抽样计算时</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需要设计一个MUS（货币单位抽样）工作表。输入总体金额、可容忍错报率、置信水平，自动算出样本量、抽样间隔、随机起点，并生成样本清单。</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场景3：数据匹配和异常筛选时</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客户给了销售数据和开票数据两个文件，你需要用Excel匹配找出'开了票但没入账'或'入了账但没开票'的差异。</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F04  Excel表格处理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F04 -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第一步：告诉AI你要做什么，给清楚数据格式</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不要说'帮我做一个分析表'，要具体到：'生成一个销售收入趋势分析模板，输入列有月份、收入金额、成本金额，输出列需要同比、环比、毛利率。'数据格式越明确，AI生成的公式越准确。</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第二步：拿到模板后，先验算3个数据点</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随便选3行，用笔算或计算器验证公式的结果对不对。再改几个输入值，看看输出是不是跟着变。别嫌麻烦，这一步能避免80%的隐藏错误。</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 Excel生成指令和生成的分析模板预览</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F04  Excel表格处理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F04 -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GDC最常用的3个Excel模板（指令可直接复制）</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模板1（趋势分析）：'生成销售收入趋势分析表，列有月份、收入、成本，自动计算同比（本月/去年同月-1）、环比（本月/上月-1）、毛利率（成本/收入）'</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模板2（MUS抽样）：'生成货币单位抽样计算表，输入总体金额、可容忍错报率5%、置信水平95%，自动算出样本量、抽样间隔、随机起点，并生成样本选取清单'</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模板3（数据匹配）：'生成两列数据匹配表，A列是销售订单号+金额，B列是开票记录，用VLOOKUP或INDEX/MATCH找出匹配和不匹配的行，并标红差异项'</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公式验证三步法（GDC必须做，不做不敢交底稿）</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步骤1（挑3个点手工算）：随机选3行数据，关掉Excel公式，自己用计算器算一遍，对比AI公式的结果</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步骤2（检查引用范围）：点击公式看看SUM(A1:A10)里是不是漏了第11行以后的数据</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步骤3（改参数看联动）：把某个关键数字改大10倍，看输出是不是相应变化。如果不变，说明公式没联动，可能是硬编码了数字</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核心原则：公式没验过，绝对不入底稿。这是GDC的保命底线。</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F04  Excel表格处理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F04 -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错误案例：直接用AI生成的折旧模板，没验算，结果全年折旧差了200万</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正确做法：至少验算3个数据点。AI公式逻辑通常是对的，但引用范围写错（如只算了前10行没算剩下的90行）这种错误杀伤力最大。</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错误案例：客户给的金额列带了千分位逗号（如 1,250,000），Excel把当成文本算不了求和</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正确做法：数据导入前统一格式。金额列必须是纯数字，不带逗号、不带货币符号。日期必须是YYYY-MM-DD标准格式，不要带'年/月/日'中文字。</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给出一个故意写错SUM范围的Excel模板（如SUM(A1:A10)但实际数据到A100），让学员用手工验算找出错误，讨论如果直接提交会产生什么后果。</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F05</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PDF智能解析</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银行对账单与函证批量识别提取</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F05  PDF智能解析</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GDC每天会收到大量PDF文件，最常见的是银行对账单、函证回函扫描件、客户合同附件。</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这些文件很多是扫描件（其实就是图片），里面的文字你选中复制不了，只能一个字一个字敲进Excel。</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假设一份银行对账单有50页，每页20笔交易，你手工录入不仅要花2-3小时，还可能看错数字（把1看成7，把万看成千）。</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PDF智能解析能自动区分'电子版PDF'和'扫描件PDF'，电子版直接提取文字（100%准确），扫描件用OCR识别（96%准确）。100页PDF几分钟就转成Excel。</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Why解释：GDC的很多程序都依赖对账单数据（如银行函证核对、银行流水与账面核对）。对账单录入错了，后面的底稿全错。机器处理+人工抽检，既快又准。</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F05  PDF智能解析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F05 -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场景1：收到银行盖章对账单PDF扫描件时</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银行给了50页盖章的对账单PDF（图片型），你需要提取所有交易的日期、摘要、收入、支出、余额，用于与客户账面银行日记账核对。</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场景2：收到函证回函扫描件时</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往来单位把函证回函扫描后发邮件过来，你需要识别回函结论、差异金额、备注说明，录入回函追踪表。</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场景3：客户随附的合同、付款凭证PDF处理时</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客户提供了采购合同PDF附件，你需要提取合同金额、付款条件、起止日期等关键字段，用以支持细节测试的审计证据。</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F05  PDF智能解析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F05 -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第一步：先判断PDF类型，选对解析模式</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如果你打开PDF后能选中文字、复制粘贴，那是电子版→用'直接提取'模式。如果只能看到图片、鼠标拖不动文字，那是扫描件→必须用'OCR模式'。选错模式，扫描件会提取出一堆乱码。</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第二步：批量解析，然后抽检核对关键数据</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同类型PDF可以一次性批量上传。提取完成后，不要直接拿来用。必须抽检至少10%的数据点（比如每10笔交易核对1笔），重点核对金额、日期、账号。</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 PDF上传选择和提取结果对比界面</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F05  PDF智能解析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F05 -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PDF类型判断与模式选择（一看就会）</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电子版PDF（如从网银下载的对账单）→文字可被选中和复制→直接用'文字提取'，准确率≈100%</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扫描版PDF（如银行盖章后扫描的回单）→文字不可选，本质是图片→必须用'OCR识别'，准确率≈96%</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混合型PDF（前面几页是电子版表格，后面是扫描附件）→用'智能识别'模式，系统会自动逐页判断</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记住：扫描件选了直接提取→全是乱字，完全不能用。</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GDC批量处理工作流（照着做不出错）</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第1步——分类：建3个文件夹（电子版/扫描件/混合），收到PDF先归类</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第2步——批量上传：同类型PDF一次性全部拖进解析窗口</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第3步——格式预览：检查表格结构是否对得上（比如日期列有没有跑到金额列）</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第4步——抽检核对：随机抽10%的行，和原始PDF里的数字逐一比对</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第5步——导出：确认无误后导出为CSV或Excel，直接贴入底稿模板</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抽检重点：金额（最容易看错，如10000看成1000）、日期（年月日顺序）、账号（位数对不对）。</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F05  PDF智能解析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F05 -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真实错误案例：客户给的扫描版函证PDF，同事选了'直接提取'，结果提取出一页空白，全部数据丢失</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正确做法：扫描件必须用OCR或智能识别。如果你不确定是哪种类型，就选'智能识别'让系统自己判断，宁可多花30秒解析，也不要承担数据丢失的风险。</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真实错误案例：OCR把金额 ¥100,000.00 识别成了 ¥10,000.00，漏了一个0，底稿少记了90万</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正确做法：OCR对0和O、1和l、8和3特别容易混淆。所有金额必须逐条和原始PDF核对。宁可多花20分钟抽检，也不要因为一个数字错误导致底稿作废。</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提供2份PDF样本：第1份是扫描版对账单，第2份是电子版对账单。让A组两份都选'直接提取'，B组按正确模式选。对比提取结果，讨论错误后果和成本。</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F09</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财务报表API</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A股/港股上市公司财务数据批量获取</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F09  财务报表API</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GDC做实质性分析程序时，经常需要用同行业上市公司数据做对比。</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比如客户毛利率是35%，你不确定这个数字正常不正常。如果要和同行比，你需要找3-5家可比公司，从巨潮资讯或交易所网站下载它们的年报，然后再整理成Excel。</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手工整理6家公司×5年的财务数据，少说也得大半天，而且复制粘贴过程中很容易把数据贴错行、贴串列。</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API功能直连数据库，你只需要输入公司名称或股票代码，点一下导出，几分钟就能拿到标准化的Excel表格。</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Why解释：Field团队给你的时间窗口通常很短。手工整理数据用半天，真正做分析的时间只剩2小时，很容易匆忙出错。API帮你把数据准备工作压缩到15分钟，让你有更多时间做质量复核。</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F09  财务报表API</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F09 -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场景1：可比公司分析数据准备时</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比如你在做制造业客户的收入分析，需要从可比上市公司获取最近3年的收入、成本、毛利率数据，用于生成对比表。</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场景2：行业趋势数据收集、底稿附件准备时</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评估客户某项财务指标（如应收账款周转天数）是否合理，需要获取同行业平均值和历史趋势作为基准数据。将导出的标准化数据作为分析性程序底稿的组成部分。</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场景3：异常指标交叉验证时</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分析程序发现客户ROE从15%突降到3%，你需要快速查询同行业同期的ROE表现，判断这是行业普遍现象还是客户自身问题。</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F09  财务报表API</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F09 -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第一步：确认要查哪家公司和什么报表类型</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用股票代码查询最准，比如贵州茅台是600519。同时确认是要'合并报表'还是'母公司报表'——GDC做分析一般都用合并报表。还要确认单位是元还是万元，避免差10000倍。</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第二步：导出后必须做一致性验证</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API的数据不是100%不会错。随机挑1-2年，把API导出的营收和净利润数据，和这家公司年报PDF里的数字对比一下。如果一致，其他年份大概率也没问题。</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【截图占位】展示NOVA公司搜索选择和导出的Excel财务数据</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F09  财务报表API</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F09 -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查询方法（手把手操作）</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A股公司→输入6位数字代码（如600519贵州茅台）或标准全称</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港股公司→输入港股代码（如0700.HK腾讯控股）</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报表类型确认→GDC分析一律选'合并报表'，母公司报表只在特殊场景下使用</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单位确认→导出前看清单位是'元'还是'万元'。导成Excel后，在表头加一行标注单位，避免和同事的底稿混用</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小窍门：同一家公司以前可能改过名，用代码查不会出错。</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数据验证三步法（不做验证=拿命赌数据）</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步骤1（逻辑校验）：检查资产负债表是否平衡——资产总计 = 负债合计 + 权益合计。如果不平衡，说明API数据有问题</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步骤2（抽样核对）：随机选2023年的数据，打开这家公司2023年年报PDF，找到利润表和资产负债表，手工对比营收、净利润、总资产3个关键数字</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步骤3（单位校验）：确认导出的数据单位和底稿单位一致。如果API给的是亿元，你的底稿用的是万元，直接差100倍</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核心提醒：至少核对1个年度的关键数据，这是GDC的专业底线。</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F09  财务报表API</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F09 -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错误案例：没有核对API数据，直接导入底稿做了分析，结果收入被少报了100倍（单位搞混了）</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正确做法：导出后第一件事就是确认单位。在Excel里随便看一个数字的位数，如果年报里收入是150亿元，API导出的数字必须也是150亿级别（不是150万级别）。</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错误案例：不小心选了'母公司报表'，结果分析结论全错了（母公司数据通常比合并数据小得多）</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正确做法：GDC做分析程序一律用合并报表。除非Field特别说明'给我母公司数据'，否则默认选合并。每个导出文件命名时标注'合并'二字，防止以后搞混。</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提供API导出的某上市公司数据+该公司年报PDF，让学员分组核对3个关键数字（营收、净利润、总资产），找出差异项并讨论如果直接使用错误数据会对审计结论产生什么影响。</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F03</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Word文档处理</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审计发现与函证文档自动化生成</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F03  Word文档处理</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GDC不仅需要做Excel底稿，还需要输出各种文档：审计发现备忘录、函证模板、内部工作纪要、给Field团队的说明邮件。</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比如你发现某客户存在重大内控缺陷，需要写一个审计发现备忘录。或者要发20封银行询证函，每封信的账户信息都不一样，一封封改Word简直崩溃。</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手工排版不仅慢，而且格式不统一——有的同事用宋体，有的用微软雅黑；有的标题加粗，有的没加粗。Field团队和复核人员看了会觉得GDC很不专业。</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NOVA的Word处理功能，你给它一个模板和一份数据清单，它就能批量生成格式统一的专业文档。</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Why解释：审计底稿和审计文档代表事务所的专业形象。格式混乱不仅给复核人员留下不专业的印象，还可能在质量检查时被挑出问题。标准化文档是GDC专业输出的基础。</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F03  Word文档处理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F03 -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场景1：审计发现需要生成Memo时</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你执行销售流程细节测试时，发现客户存在'收入确认早于发货日期'的情况，需要整理成标准格式的审计发现备忘录提交给Field团队。</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场景2：函证批量生成时</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需要向20家银行发询证函，每封信里的银行名称、账号、余额都不同。手工一封封改Word又慢又容易抄错数字。</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场景3：内部工作纪要/数据核对说明</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完成某项数据分析后，需要写一个结构化的工作纪要给Field同事，说明数据来源、分析方法、发现和结论。</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F03  Word文档处理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F03 -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第一步：把你要写的内容整理清楚，告诉AI文档类型和格式要求</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不要说'帮我写个文档'。要像下任务一样明确：'生成审计发现备忘录，标题是XX，发现的问题是XX，影响金额是XX，建议措施是XX，格式要求标题用黑体12磅，正文用宋体10.5磅，编号用1.1、1.2分级。'越具体，结果越接近终稿。</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第二步：下载后逐字核对数据，特别是金额和日期</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NOVA负责排版，数据准确性靠你自己核对。AI可能在转录长数字时出错（如把1,250,000写成1,520,000），这种错误放出去会毁掉GDC的信誉。</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【截图占位】展示NOVA文档生成指令和生成的Word预览</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F03  Word文档处理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F03 -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GDC常用文档指令（直接复制修改）</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审计发现Memo→'生成审计发现备忘录，主题是'客户收入确认早于发货日期'，影响期间为2025年1-6月，涉及金额约500万元，建议措施为'修订收入确认政策，增加发货单作为确认依据'。格式要求：标题黑体三号，正文宋体小四，编号用1.1、1.2二级编号'</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批量函证→'基于以下银行清单生成银行询证函，字段包含银行名称、账号、截止日余额。格式参照标准模板：致XX银行抬头，正文保留固定格式，只替换账号和金额'</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数据核对清单（发出去之前必须过一遍）</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金额核对→逐字逐字比对，尤其警惕数字错位（例：1,250,000 vs 1,520,000）和少写一个0（例：100,000 vs 10,000）</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日期核对→时间段、截止日、回函截止日必须与Field同事确认一致</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名称核对→公司名称、银行名称与营业执照和开户许可证逐字比对，'有限公司'不能写成'有限责任公司'（虽然通常没问题，但严谨起见要一致）</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编号核对→Memo编号必须连续，函证编号不能重复</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底线：任何一个错别字，都可能导致函证被退回或Memo被修订。</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F03  Word文档处理</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F03 -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错误案例：批量生成了20封函证，其中1封金额写错（120万写成了102万），银行回函差异导致整套函证需要重新发</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正确做法：批量生成后，至少抽检30%的函证（如果是20封就抽6封），把每个数字和原始账面记录逐字比对。数学上的1和2，人工识别错误概率极低，但AI排版助手不会自己发现输入数据有误。</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错误案例：生成的Memo没指定编号规则，结果全组同事的Memo编号格式乱七八糟，Field要求全部重改</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正确做法：在指令中明确格式要求。GDC应该有标准化的文档编号规则（如'年份-项目-序号'），每次生成前在指令里写明模板和编号格式。</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提供1份故意设置了3处数据错误的AI生成审计发现Memo，让学员5分钟内找出所有错误。最快找全的小组获胜，讨论如果这3处错误没被发现就发给Field会有什么后果。</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F12</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图片OCR与分析</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样本凭证扫描件智能识别录入</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F12  图片OCR与分析</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GDC执行细节测试时，有一大块工作就是'翻看凭证、录入信息'。</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比如销售细节测试，Field同事要求你抽查50笔销售凭证。每笔凭证可能包含发票、出库单、银行回单3张图片。50笔就是150张图片，每张图你要录入5-10个字段。</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手工录入不仅慢（假设每张图3分钟，150张就是450分钟=7.5小时），而且非常容易看错——发票号码是'01102345'还是'01102345'（少看了一个数字）、金额是'¥100,000'还是'¥10,000'（少看一个0）。</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OCR可以批量扫描这些凭证图片，自动识别并提取关键字段（发票号、金额、日期、购销方），输出成Excel让你核对。</a:t>
            </a:r>
            <a:endParaRPr lang="en-US" sz="1500" dirty="0"/>
          </a:p>
        </p:txBody>
      </p:sp>
      <p:sp>
        <p:nvSpPr>
          <p:cNvPr id="9" name="Text 7"/>
          <p:cNvSpPr/>
          <p:nvPr/>
        </p:nvSpPr>
        <p:spPr>
          <a:xfrm>
            <a:off x="640080" y="36576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Why解释：假设每张图OCR识别+你人工核对只要30秒，150张就是75分钟。相比手工录入的7.5小时，效率提升6倍以上。更关键的是，有了OCR辅助，你的眼睛不会疲劳，看错数字的概率大幅下降。</a:t>
            </a:r>
            <a:endParaRPr lang="en-US" sz="1300" dirty="0"/>
          </a:p>
        </p:txBody>
      </p:sp>
      <p:sp>
        <p:nvSpPr>
          <p:cNvPr id="10" name="Shape 8"/>
          <p:cNvSpPr/>
          <p:nvPr/>
        </p:nvSpPr>
        <p:spPr>
          <a:xfrm>
            <a:off x="8503920" y="4663440"/>
            <a:ext cx="365760" cy="365760"/>
          </a:xfrm>
          <a:prstGeom prst="ellipse">
            <a:avLst/>
          </a:prstGeom>
          <a:solidFill>
            <a:srgbClr val="86BC25"/>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F12  图片OCR与分析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F12 -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场景1：销售细节测试——发票信息录入</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客户提供了50张销售发票扫描件，你需要提取每张发票的发票号码、开票日期、金额（不含税）、购买方名称、销售方名称，用于细节测试抽样底稿。</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场景2：银行细节测试——回单信息核对</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银行细节测试中，需要把银行回单上的收款人、付款人、金额、日期与客户银行日记账逐笔核对。回单是扫描件或手机拍照。</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场景3：采购细节测试——合同条款提取</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采购细节测试需要核对采购合同的关键条款（金额、付款方式、交货期限）。客户提供了扫描版合同PDF，需要提取关键字段。</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F12  图片OCR与分析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F12 -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第一步：把同类型的凭证图片整理好，一次性批量上传</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不要混着传。发票放一批、回单放一批、合同放一批。因为发票识别模式和通用文字识别模式的准确率差异很大。同类批量处理，后续核对也更方便。</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第二步：对照原始图片，逐行核对关键字段</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OCR不是100%准确。重点关注：金额、日期、发票编号、公司名称。这几个字段一旦错了，后面的底稿核对全错。</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【截图占位】展示NOVA图片OCR识别界面和提取的字段列表</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F12  图片OCR与分析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F12 -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GDC批量识别工作流（照着流程做）</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第1步——分类建文件夹：'发票'/'银行回单'/'合同'/'出入库单'，按凭证类型分开放</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第2步——同类型批量上传：选中同一文件夹里的所有图片，一次性上传识别</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第3步——对照字段清单核对：发票→发票号/金额/日期/购销方；回单→金额/日期/收付款方/摘要；合同→金额/付款方式/期限/签章日期</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第4步——纠错修正：发现识别错误立即在原表格里修正</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第5步——导出Excel：确认无误后导出，直接贴入细节测试底稿</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数量建议：一批别超过50张，太多容易漏看。</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OCR最容易出错的5种情况（提前知道就能避免）</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1. 图片模糊/反光→发票号码的数字会识别成乱码，金额的小数点可能丢失</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2. 手写标注遮挡→客户在发票上手写'已核对'，OCR可能把字迹混进识别结果</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3. 印章/水印覆盖→公章盖在金额上，OCR可能漏读或错读被遮盖的数字</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4. 相似字符混淆→1和l、0和O、8和3、6和5最容易看错，金额字段尤其要盯紧</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5. 多币种→发票上同时有人民币和美元金额，OCR可能分不清哪个是哪个</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预防办法：上传前先检查图片质量，模糊的发票要求客户重新扫描。</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F12  图片OCR与分析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F12 -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真实错误案例：OCR把发票号码'0110234567'识别成'011023456'，漏了最后一位，导致与税控系统核对不匹配</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正确做法：每张发票号码都必须和原始图片逐字比对，尤其关注末尾几位（因为AI看漏最后一位的概率最高）。</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真实错误案例：客户给的发票照片是晚上拍的，灯光反光，OCR把金额'¥100,000'识别成'¥10,000'，漏了一个0</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正确做法：上传前检查图片质量。分辨率建议≥300dpi，画面清晰无反光。如果客户给的照片质量差，直接要求重新扫描。</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提供2张发票图片（1张清晰+1张模糊反光），让学员先用OCR识别再手工录入，对比两种方式的速度和准确率，讨论模糊图片对识别的影响。</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F07</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公司信息查询</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客户与供应商背景快速核查</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F07  公司信息查询</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GDC做细节测试时，除了核对客户自身的账，还经常要核对客户的供应商和交易对手方。</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比如你做采购细节测试，客户去年新增了一个大额供应商A公司，全年采购额2000万。Field同事可能会问你：'查一下这家公司什么来头？注册资本多少？是不是皮包公司？'</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或者你做银行函证，要发函给一家从来没听过的银行分支机构，Field同事会要求你先确认这家银行真实存在、还在正常经营。</a:t>
            </a:r>
            <a:endParaRPr lang="en-US" sz="1500" dirty="0"/>
          </a:p>
        </p:txBody>
      </p:sp>
      <p:sp>
        <p:nvSpPr>
          <p:cNvPr id="8" name="Text 6"/>
          <p:cNvSpPr/>
          <p:nvPr/>
        </p:nvSpPr>
        <p:spPr>
          <a:xfrm>
            <a:off x="457200" y="32004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手工去天眼查/企查查一个个搜，不仅慢，而且信息分散在不同页面，整理起来很麻烦。</a:t>
            </a:r>
            <a:endParaRPr lang="en-US" sz="1500" dirty="0"/>
          </a:p>
        </p:txBody>
      </p:sp>
      <p:sp>
        <p:nvSpPr>
          <p:cNvPr id="9" name="Text 7"/>
          <p:cNvSpPr/>
          <p:nvPr/>
        </p:nvSpPr>
        <p:spPr>
          <a:xfrm>
            <a:off x="457200" y="36576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公司信息查询功能一键返回企业的工商登记、股东信息、经营异常等，帮你快速做背景初筛。</a:t>
            </a:r>
            <a:endParaRPr lang="en-US" sz="1500" dirty="0"/>
          </a:p>
        </p:txBody>
      </p:sp>
      <p:sp>
        <p:nvSpPr>
          <p:cNvPr id="10" name="Text 8"/>
          <p:cNvSpPr/>
          <p:nvPr/>
        </p:nvSpPr>
        <p:spPr>
          <a:xfrm>
            <a:off x="640080" y="41148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Why解释：GDC虽然不是承接评估团队，但如果在细节测试中发现供应商注册资本只有10万、法人3个月换一次、还在经营异常名录里，这就是重大风险信号。及时上报Field同事，可能避免整个审计项目出现重大遗漏。</a:t>
            </a:r>
            <a:endParaRPr lang="en-US" sz="13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F07  公司信息查询</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F07 -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场景1：客户新增大额供应商核查</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分析程序发现客户去年新增了一个全年交易2000万的供应商B公司。你需要快速查询B公司的注册资本、成立时间、最近是否有变更或异常，判断交易合理性。</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场景2：函证对象背景确认、关联方辅助识别</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首次向某供应商发送询证函前，确认该公司真实存在且经营正常。通过股权穿透辅助核查：供应商的股东是否与客户股东/高管同名，从而发现隐性关联方。</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场景3：交易对手方风险评估</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细节测试中发现某笔大额交易对手方C公司注册资本仅50万元，却与客户发生了5000万的交易，需要初步判断交易的真实性。</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F07  公司信息查询</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F07 -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第一步：用统一社会信用代码查询最准</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不要用公司简称，比如'北京XX科技'可能查到10家同名公司。用18位统一社会信用代码是唯一标识，查出来不会错。如果连代码都没有，就用完整的公司全称。</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第二步：重点看注册资本、历史变更和经营异常</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看3个东西就够了：（1）注册资本多少，实缴了多少（认缴1000万实缴0元的要小心）；（2）最近1年法人/股东/地址有没有频繁变更；（3）有没有在经营异常名录或行政处罚名单里。</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【截图占位】展示NOVA公司查询结果和股权穿透图</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F07  公司信息查询</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F07 -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GDC查询方式（最快最准的方法）</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最准：输入18位统一社会信用代码（每家公司只有一个，不受更名影响）</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次选：输入完整的公司全称（注意括号格式：北京XX科技有限公司 vs 北京XX科技有限责任公司，要一字不差）</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批量：导入Excel清单，批量查询所有供应商/客户的工商信息</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关联查询：输入客户法人姓名，查询他名下还有哪些其他公司，辅助识别未披露的关联方</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小窍门：客户给的公司名单里经常有错别字或简称，先用全称查一遍，如果查不到再让Field同事确认。</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风险信号速查表（GDC重点关注这些）</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红色警报（必须立即上报Field）：经营异常名录、行政处罚记录、失信被执行、近一年法人/股东变更超过2次</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黄色注意（列入关注清单）：注册资本认缴高但实缴极低、经营范围与交易内容明显不符（比如科技公司却和建筑公司有大额材料交易）、年报延迟</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正常信号（但仍需其他程序验证）：成立时间较长、实缴资本与经营规模匹配、法人/股权稳定、无异常记录</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重要提醒：工商信息只是第一道筛查，不能替代实质性程序。</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F07  公司信息查询</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F07 -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错误案例：查到供应商经营正常就直接认为交易没问题，没有进一步做实质性测试，结果遗漏了虚假交易</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正确做法：工商信息只是易用性工具，不是审计证据。即使供应商工商信息看起来100%正常，采购交易的真实性仍然需要通过合同、物流单据、银行流水等实质性程序来验证。</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错误案例：把注册资本认缴额当成实缴额，以为供应商实力很强，结果发现实缴只有5万</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正确做法：注册资本旁边一定有个'实缴资本'字段。很多公司写注册资本5000万但实缴5万，真实履约能力非常弱。这是GDC发现风险信号的关键指标。</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给出一个具体案例：客户新增供应商D公司，全年交易额3000万。提供D公司的工商信息（含注册资本1000万但实缴50万、法人3个月前刚变更、有一条行政处罚记录）。让学员评估风险等级并讨论应该向Field上报哪些信息。</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5600" b="1" dirty="0">
                <a:solidFill>
                  <a:srgbClr val="86BC25"/>
                </a:solidFill>
                <a:latin typeface="Arial" pitchFamily="34" charset="0"/>
                <a:ea typeface="Arial" pitchFamily="34" charset="-122"/>
                <a:cs typeface="Arial" pitchFamily="34" charset="-120"/>
              </a:rPr>
              <a:t>F11</a:t>
            </a:r>
            <a:endParaRPr lang="en-US" sz="5600" dirty="0"/>
          </a:p>
        </p:txBody>
      </p:sp>
      <p:sp>
        <p:nvSpPr>
          <p:cNvPr id="4" name="Text 2"/>
          <p:cNvSpPr/>
          <p:nvPr/>
        </p:nvSpPr>
        <p:spPr>
          <a:xfrm>
            <a:off x="457200" y="2377440"/>
            <a:ext cx="8229600" cy="731520"/>
          </a:xfrm>
          <a:prstGeom prst="rect">
            <a:avLst/>
          </a:prstGeom>
          <a:noFill/>
          <a:ln/>
        </p:spPr>
        <p:txBody>
          <a:bodyPr wrap="square" rtlCol="0" anchor="ctr"/>
          <a:lstStyle/>
          <a:p>
            <a:pPr algn="ctr" indent="0" marL="0">
              <a:buNone/>
            </a:pPr>
            <a:r>
              <a:rPr lang="en-US" sz="3200" b="1" dirty="0">
                <a:solidFill>
                  <a:srgbClr val="FFFFFF"/>
                </a:solidFill>
                <a:latin typeface="Microsoft YaHei" pitchFamily="34" charset="0"/>
                <a:ea typeface="Microsoft YaHei" pitchFamily="34" charset="-122"/>
                <a:cs typeface="Microsoft YaHei" pitchFamily="34" charset="-120"/>
              </a:rPr>
              <a:t>数据汇报PPT生成</a:t>
            </a:r>
            <a:endParaRPr lang="en-US" sz="3200" dirty="0"/>
          </a:p>
        </p:txBody>
      </p:sp>
      <p:sp>
        <p:nvSpPr>
          <p:cNvPr id="5" name="Text 3"/>
          <p:cNvSpPr/>
          <p:nvPr/>
        </p:nvSpPr>
        <p:spPr>
          <a:xfrm>
            <a:off x="457200" y="3108960"/>
            <a:ext cx="8229600" cy="548640"/>
          </a:xfrm>
          <a:prstGeom prst="rect">
            <a:avLst/>
          </a:prstGeom>
          <a:noFill/>
          <a:ln/>
        </p:spPr>
        <p:txBody>
          <a:bodyPr wrap="square" rtlCol="0" anchor="ctr"/>
          <a:lstStyle/>
          <a:p>
            <a:pPr algn="ctr" indent="0" marL="0">
              <a:buNone/>
            </a:pPr>
            <a:r>
              <a:rPr lang="en-US" sz="1600" dirty="0">
                <a:solidFill>
                  <a:srgbClr val="E2E8F0"/>
                </a:solidFill>
                <a:latin typeface="Microsoft YaHei" pitchFamily="34" charset="0"/>
                <a:ea typeface="Microsoft YaHei" pitchFamily="34" charset="-122"/>
                <a:cs typeface="Microsoft YaHei" pitchFamily="34" charset="-120"/>
              </a:rPr>
              <a:t>分析结果可视化与团队内部汇报</a:t>
            </a:r>
            <a:endParaRPr lang="en-US" sz="1600" dirty="0"/>
          </a:p>
        </p:txBody>
      </p:sp>
      <p:sp>
        <p:nvSpPr>
          <p:cNvPr id="6" name="Shape 4"/>
          <p:cNvSpPr/>
          <p:nvPr/>
        </p:nvSpPr>
        <p:spPr>
          <a:xfrm>
            <a:off x="8503920" y="4663440"/>
            <a:ext cx="365760" cy="365760"/>
          </a:xfrm>
          <a:prstGeom prst="ellipse">
            <a:avLst/>
          </a:prstGeom>
          <a:solidFill>
            <a:srgbClr val="86BC25"/>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F11  数据汇报PPT生成</a:t>
            </a:r>
            <a:endParaRPr lang="en-US" sz="2200" dirty="0"/>
          </a:p>
        </p:txBody>
      </p:sp>
      <p:sp>
        <p:nvSpPr>
          <p:cNvPr id="4" name="Text 2"/>
          <p:cNvSpPr/>
          <p:nvPr/>
        </p:nvSpPr>
        <p:spPr>
          <a:xfrm>
            <a:off x="457200" y="1097280"/>
            <a:ext cx="8229600" cy="640080"/>
          </a:xfrm>
          <a:prstGeom prst="rect">
            <a:avLst/>
          </a:prstGeom>
          <a:noFill/>
          <a:ln/>
        </p:spPr>
        <p:txBody>
          <a:bodyPr wrap="square" rtlCol="0" anchor="ctr"/>
          <a:lstStyle/>
          <a:p>
            <a:pPr algn="l" indent="0" marL="0">
              <a:buNone/>
            </a:pPr>
            <a:r>
              <a:rPr lang="en-US" sz="2600" b="1" dirty="0">
                <a:solidFill>
                  <a:srgbClr val="1E3A5F"/>
                </a:solidFill>
                <a:latin typeface="Microsoft YaHei" pitchFamily="34" charset="0"/>
                <a:ea typeface="Microsoft YaHei" pitchFamily="34" charset="-122"/>
                <a:cs typeface="Microsoft YaHei" pitchFamily="34" charset="-120"/>
              </a:rPr>
              <a:t>WHY 为什么这个功能对GDC重要？</a:t>
            </a:r>
            <a:endParaRPr lang="en-US" sz="2600" dirty="0"/>
          </a:p>
        </p:txBody>
      </p:sp>
      <p:sp>
        <p:nvSpPr>
          <p:cNvPr id="5" name="Text 3"/>
          <p:cNvSpPr/>
          <p:nvPr/>
        </p:nvSpPr>
        <p:spPr>
          <a:xfrm>
            <a:off x="457200" y="18288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GDC做完分析程序后，Field同事不会逐行看你的Excel底稿，他们要的是你汇总的结论和发现。</a:t>
            </a:r>
            <a:endParaRPr lang="en-US" sz="1500" dirty="0"/>
          </a:p>
        </p:txBody>
      </p:sp>
      <p:sp>
        <p:nvSpPr>
          <p:cNvPr id="6" name="Text 4"/>
          <p:cNvSpPr/>
          <p:nvPr/>
        </p:nvSpPr>
        <p:spPr>
          <a:xfrm>
            <a:off x="457200" y="22860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比如你做了一整套收入分析，发现7月有一个异常跳升。如果你直接把Excel发给Field，他可能要花20分钟在表格里找重点。但如果你做成一张PPT，标题写'7月收入异常跳升35%'，下面附一张趋势图和简要说明，Field 30秒就看懂了。</a:t>
            </a:r>
            <a:endParaRPr lang="en-US" sz="1500" dirty="0"/>
          </a:p>
        </p:txBody>
      </p:sp>
      <p:sp>
        <p:nvSpPr>
          <p:cNvPr id="7" name="Text 5"/>
          <p:cNvSpPr/>
          <p:nvPr/>
        </p:nvSpPr>
        <p:spPr>
          <a:xfrm>
            <a:off x="457200" y="2743200"/>
            <a:ext cx="8229600" cy="41148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手工做PPT太慢了，而且很多GDC同事不擅长设计PPT——字体不统一、颜色乱、图表丑。NOVA可以根据你的大纲和数据自动生成结构清晰、配色专业的汇报PPT。</a:t>
            </a:r>
            <a:endParaRPr lang="en-US" sz="1500" dirty="0"/>
          </a:p>
        </p:txBody>
      </p:sp>
      <p:sp>
        <p:nvSpPr>
          <p:cNvPr id="8" name="Text 6"/>
          <p:cNvSpPr/>
          <p:nvPr/>
        </p:nvSpPr>
        <p:spPr>
          <a:xfrm>
            <a:off x="640080" y="3200400"/>
            <a:ext cx="7863840" cy="411480"/>
          </a:xfrm>
          <a:prstGeom prst="rect">
            <a:avLst/>
          </a:prstGeom>
          <a:noFill/>
          <a:ln/>
        </p:spPr>
        <p:txBody>
          <a:bodyPr wrap="square" rtlCol="0" anchor="ctr"/>
          <a:lstStyle/>
          <a:p>
            <a:pPr algn="l" indent="0" marL="0">
              <a:buNone/>
            </a:pPr>
            <a:r>
              <a:rPr lang="en-US" sz="1300" dirty="0">
                <a:solidFill>
                  <a:srgbClr val="4A5568"/>
                </a:solidFill>
                <a:latin typeface="Microsoft YaHei" pitchFamily="34" charset="0"/>
                <a:ea typeface="Microsoft YaHei" pitchFamily="34" charset="-122"/>
                <a:cs typeface="Microsoft YaHei" pitchFamily="34" charset="-120"/>
              </a:rPr>
              <a:t>Why解释：GDC的价值不只是'做底稿'，更是'帮Field团队快速理解数据'。一份好的汇报PPT，能让Field同事在5分钟内掌握分析结论，从而更快决定是否需要追加审计程序。这是GDC从'执行者'升级为'分析者'的关键能力。</a:t>
            </a:r>
            <a:endParaRPr lang="en-US" sz="1300" dirty="0"/>
          </a:p>
        </p:txBody>
      </p:sp>
      <p:sp>
        <p:nvSpPr>
          <p:cNvPr id="9" name="Shape 7"/>
          <p:cNvSpPr/>
          <p:nvPr/>
        </p:nvSpPr>
        <p:spPr>
          <a:xfrm>
            <a:off x="8503920" y="4663440"/>
            <a:ext cx="365760" cy="365760"/>
          </a:xfrm>
          <a:prstGeom prst="ellipse">
            <a:avLst/>
          </a:prstGeom>
          <a:solidFill>
            <a:srgbClr val="86BC25"/>
          </a:solidFill>
          <a:ln/>
        </p:spPr>
      </p:sp>
      <p:sp>
        <p:nvSpPr>
          <p:cNvPr id="10" name="Text 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F11  数据汇报PPT生成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F11 - WHEN 什么时候用？</a:t>
            </a:r>
            <a:endParaRPr lang="en-US" sz="2400" dirty="0"/>
          </a:p>
        </p:txBody>
      </p:sp>
      <p:sp>
        <p:nvSpPr>
          <p:cNvPr id="5" name="Shape 3"/>
          <p:cNvSpPr/>
          <p:nvPr/>
        </p:nvSpPr>
        <p:spPr>
          <a:xfrm>
            <a:off x="411480" y="1737360"/>
            <a:ext cx="8321040" cy="960120"/>
          </a:xfrm>
          <a:prstGeom prst="roundRect">
            <a:avLst>
              <a:gd name="adj" fmla="val 7619"/>
            </a:avLst>
          </a:prstGeom>
          <a:solidFill>
            <a:srgbClr val="FFFFFF"/>
          </a:solidFill>
          <a:ln w="12700">
            <a:solidFill>
              <a:srgbClr val="CBD5E0"/>
            </a:solidFill>
            <a:prstDash val="solid"/>
          </a:ln>
        </p:spPr>
      </p:sp>
      <p:sp>
        <p:nvSpPr>
          <p:cNvPr id="6" name="Text 4"/>
          <p:cNvSpPr/>
          <p:nvPr/>
        </p:nvSpPr>
        <p:spPr>
          <a:xfrm>
            <a:off x="548640" y="181051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场景1：分析程序结果汇总汇报</a:t>
            </a:r>
            <a:endParaRPr lang="en-US" sz="1400" dirty="0"/>
          </a:p>
        </p:txBody>
      </p:sp>
      <p:sp>
        <p:nvSpPr>
          <p:cNvPr id="7" name="Text 5"/>
          <p:cNvSpPr/>
          <p:nvPr/>
        </p:nvSpPr>
        <p:spPr>
          <a:xfrm>
            <a:off x="548640" y="210312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你完成了收入、成本、利润三项分析程序，需要将发现的趋势异常、比率偏离和结论建议汇总成一份汇报PPT发给Field团队。</a:t>
            </a:r>
            <a:endParaRPr lang="en-US" sz="1200" dirty="0"/>
          </a:p>
        </p:txBody>
      </p:sp>
      <p:sp>
        <p:nvSpPr>
          <p:cNvPr id="8" name="Shape 6"/>
          <p:cNvSpPr/>
          <p:nvPr/>
        </p:nvSpPr>
        <p:spPr>
          <a:xfrm>
            <a:off x="411480" y="2834640"/>
            <a:ext cx="8321040" cy="960120"/>
          </a:xfrm>
          <a:prstGeom prst="roundRect">
            <a:avLst>
              <a:gd name="adj" fmla="val 7619"/>
            </a:avLst>
          </a:prstGeom>
          <a:solidFill>
            <a:srgbClr val="FFFFFF"/>
          </a:solidFill>
          <a:ln w="12700">
            <a:solidFill>
              <a:srgbClr val="CBD5E0"/>
            </a:solidFill>
            <a:prstDash val="solid"/>
          </a:ln>
        </p:spPr>
      </p:sp>
      <p:sp>
        <p:nvSpPr>
          <p:cNvPr id="9" name="Text 7"/>
          <p:cNvSpPr/>
          <p:nvPr/>
        </p:nvSpPr>
        <p:spPr>
          <a:xfrm>
            <a:off x="548640" y="290779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场景2：重大异常数据展示、团队内部培训</a:t>
            </a:r>
            <a:endParaRPr lang="en-US" sz="1400" dirty="0"/>
          </a:p>
        </p:txBody>
      </p:sp>
      <p:sp>
        <p:nvSpPr>
          <p:cNvPr id="10" name="Text 8"/>
          <p:cNvSpPr/>
          <p:nvPr/>
        </p:nvSpPr>
        <p:spPr>
          <a:xfrm>
            <a:off x="548640" y="320040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分析中发现某项指标严重偏离行业均值（如ROE突降30个百分点），需要用可视化方式突出展示异常点并分析原因；为新入职GDC同事制作工具使用或底稿规范培训材料。</a:t>
            </a:r>
            <a:endParaRPr lang="en-US" sz="1200" dirty="0"/>
          </a:p>
        </p:txBody>
      </p:sp>
      <p:sp>
        <p:nvSpPr>
          <p:cNvPr id="11" name="Shape 9"/>
          <p:cNvSpPr/>
          <p:nvPr/>
        </p:nvSpPr>
        <p:spPr>
          <a:xfrm>
            <a:off x="411480" y="3931920"/>
            <a:ext cx="8321040" cy="960120"/>
          </a:xfrm>
          <a:prstGeom prst="roundRect">
            <a:avLst>
              <a:gd name="adj" fmla="val 7619"/>
            </a:avLst>
          </a:prstGeom>
          <a:solidFill>
            <a:srgbClr val="FFFFFF"/>
          </a:solidFill>
          <a:ln w="12700">
            <a:solidFill>
              <a:srgbClr val="CBD5E0"/>
            </a:solidFill>
            <a:prstDash val="solid"/>
          </a:ln>
        </p:spPr>
      </p:sp>
      <p:sp>
        <p:nvSpPr>
          <p:cNvPr id="12" name="Text 10"/>
          <p:cNvSpPr/>
          <p:nvPr/>
        </p:nvSpPr>
        <p:spPr>
          <a:xfrm>
            <a:off x="548640" y="4005072"/>
            <a:ext cx="8046720" cy="347472"/>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场景3：项目进度和待办汇报</a:t>
            </a:r>
            <a:endParaRPr lang="en-US" sz="1400" dirty="0"/>
          </a:p>
        </p:txBody>
      </p:sp>
      <p:sp>
        <p:nvSpPr>
          <p:cNvPr id="13" name="Text 11"/>
          <p:cNvSpPr/>
          <p:nvPr/>
        </p:nvSpPr>
        <p:spPr>
          <a:xfrm>
            <a:off x="548640" y="4297680"/>
            <a:ext cx="8046720" cy="54864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向Field团队汇报GDC已完成和未完成的审计程序清单，以及发现的待解决问题（如数据缺失、客户回复延迟等）。</a:t>
            </a:r>
            <a:endParaRPr lang="en-US" sz="1200" dirty="0"/>
          </a:p>
        </p:txBody>
      </p:sp>
      <p:sp>
        <p:nvSpPr>
          <p:cNvPr id="14" name="Shape 12"/>
          <p:cNvSpPr/>
          <p:nvPr/>
        </p:nvSpPr>
        <p:spPr>
          <a:xfrm>
            <a:off x="8503920" y="4663440"/>
            <a:ext cx="365760" cy="365760"/>
          </a:xfrm>
          <a:prstGeom prst="ellipse">
            <a:avLst/>
          </a:prstGeom>
          <a:solidFill>
            <a:srgbClr val="86BC25"/>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F11  数据汇报PPT生成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F11 - HOW 怎么用？</a:t>
            </a:r>
            <a:endParaRPr lang="en-US" sz="2400" dirty="0"/>
          </a:p>
        </p:txBody>
      </p:sp>
      <p:sp>
        <p:nvSpPr>
          <p:cNvPr id="5" name="Text 3"/>
          <p:cNvSpPr/>
          <p:nvPr/>
        </p:nvSpPr>
        <p:spPr>
          <a:xfrm>
            <a:off x="457200" y="1554480"/>
            <a:ext cx="8229600" cy="365760"/>
          </a:xfrm>
          <a:prstGeom prst="rect">
            <a:avLst/>
          </a:prstGeom>
          <a:noFill/>
          <a:ln/>
        </p:spPr>
        <p:txBody>
          <a:bodyPr wrap="square" rtlCol="0" anchor="ctr"/>
          <a:lstStyle/>
          <a:p>
            <a:pPr algn="l" indent="0" marL="0">
              <a:buNone/>
            </a:pPr>
            <a:r>
              <a:rPr lang="en-US" sz="1800" b="1" dirty="0">
                <a:solidFill>
                  <a:srgbClr val="007749"/>
                </a:solidFill>
                <a:latin typeface="Microsoft YaHei" pitchFamily="34" charset="0"/>
                <a:ea typeface="Microsoft YaHei" pitchFamily="34" charset="-122"/>
                <a:cs typeface="Microsoft YaHei" pitchFamily="34" charset="-120"/>
              </a:rPr>
              <a:t>两步搞定</a:t>
            </a:r>
            <a:endParaRPr lang="en-US" sz="1800" dirty="0"/>
          </a:p>
        </p:txBody>
      </p:sp>
      <p:sp>
        <p:nvSpPr>
          <p:cNvPr id="6" name="Shape 4"/>
          <p:cNvSpPr/>
          <p:nvPr/>
        </p:nvSpPr>
        <p:spPr>
          <a:xfrm>
            <a:off x="502920" y="2057400"/>
            <a:ext cx="320040" cy="320040"/>
          </a:xfrm>
          <a:prstGeom prst="ellipse">
            <a:avLst/>
          </a:prstGeom>
          <a:solidFill>
            <a:srgbClr val="007749"/>
          </a:solidFill>
          <a:ln/>
        </p:spPr>
      </p:sp>
      <p:sp>
        <p:nvSpPr>
          <p:cNvPr id="7" name="Text 5"/>
          <p:cNvSpPr/>
          <p:nvPr/>
        </p:nvSpPr>
        <p:spPr>
          <a:xfrm>
            <a:off x="50292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4400" y="201168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第一步：先列大纲，每页只说1件事</a:t>
            </a:r>
            <a:endParaRPr lang="en-US" sz="1500" dirty="0"/>
          </a:p>
        </p:txBody>
      </p:sp>
      <p:sp>
        <p:nvSpPr>
          <p:cNvPr id="9" name="Text 7"/>
          <p:cNvSpPr/>
          <p:nvPr/>
        </p:nvSpPr>
        <p:spPr>
          <a:xfrm>
            <a:off x="914400" y="233172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写PPT之前，先在纸上列个大纲。每页PPT只讲一个核心结论，配1张图表或3-5个bullet points。别把所有内容塞在一页上，Field同事看一眼就不想读了。</a:t>
            </a:r>
            <a:endParaRPr lang="en-US" sz="1200" dirty="0"/>
          </a:p>
        </p:txBody>
      </p:sp>
      <p:sp>
        <p:nvSpPr>
          <p:cNvPr id="10" name="Shape 8"/>
          <p:cNvSpPr/>
          <p:nvPr/>
        </p:nvSpPr>
        <p:spPr>
          <a:xfrm>
            <a:off x="502920" y="3017520"/>
            <a:ext cx="320040" cy="320040"/>
          </a:xfrm>
          <a:prstGeom prst="ellipse">
            <a:avLst/>
          </a:prstGeom>
          <a:solidFill>
            <a:srgbClr val="007749"/>
          </a:solidFill>
          <a:ln/>
        </p:spPr>
      </p:sp>
      <p:sp>
        <p:nvSpPr>
          <p:cNvPr id="11" name="Text 9"/>
          <p:cNvSpPr/>
          <p:nvPr/>
        </p:nvSpPr>
        <p:spPr>
          <a:xfrm>
            <a:off x="502920" y="301752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914400" y="2971800"/>
            <a:ext cx="7315200" cy="320040"/>
          </a:xfrm>
          <a:prstGeom prst="rect">
            <a:avLst/>
          </a:prstGeom>
          <a:noFill/>
          <a:ln/>
        </p:spPr>
        <p:txBody>
          <a:bodyPr wrap="square" rtlCol="0" anchor="ctr"/>
          <a:lstStyle/>
          <a:p>
            <a:pPr algn="l" indent="0" marL="0">
              <a:buNone/>
            </a:pPr>
            <a:r>
              <a:rPr lang="en-US" sz="1500" b="1" dirty="0">
                <a:solidFill>
                  <a:srgbClr val="1A202C"/>
                </a:solidFill>
                <a:latin typeface="Microsoft YaHei" pitchFamily="34" charset="0"/>
                <a:ea typeface="Microsoft YaHei" pitchFamily="34" charset="-122"/>
                <a:cs typeface="Microsoft YaHei" pitchFamily="34" charset="-120"/>
              </a:rPr>
              <a:t>第二步：给NOVA指令，生成初稿后再做微调</a:t>
            </a:r>
            <a:endParaRPr lang="en-US" sz="1500" dirty="0"/>
          </a:p>
        </p:txBody>
      </p:sp>
      <p:sp>
        <p:nvSpPr>
          <p:cNvPr id="13" name="Text 11"/>
          <p:cNvSpPr/>
          <p:nvPr/>
        </p:nvSpPr>
        <p:spPr>
          <a:xfrm>
            <a:off x="914400" y="3291840"/>
            <a:ext cx="7315200" cy="411480"/>
          </a:xfrm>
          <a:prstGeom prst="rect">
            <a:avLst/>
          </a:prstGeom>
          <a:noFill/>
          <a:ln/>
        </p:spPr>
        <p:txBody>
          <a:bodyPr wrap="square" rtlCol="0" anchor="ctr"/>
          <a:lstStyle/>
          <a:p>
            <a:pPr algn="l" indent="0" marL="0">
              <a:buNone/>
            </a:pPr>
            <a:r>
              <a:rPr lang="en-US" sz="1200" dirty="0">
                <a:solidFill>
                  <a:srgbClr val="4A5568"/>
                </a:solidFill>
                <a:latin typeface="Microsoft YaHei" pitchFamily="34" charset="0"/>
                <a:ea typeface="Microsoft YaHei" pitchFamily="34" charset="-122"/>
                <a:cs typeface="Microsoft YaHei" pitchFamily="34" charset="-120"/>
              </a:rPr>
              <a:t>告诉NOVA：我要做一个X页PPT，汇报主题是XX，第1页写XX，第2页是一个折线图展示XX的趋势，第3页是一个柱状图对比XX和XX……。生成后自己检查一下：字体够大吗（投影字不小于18pt）？颜色对比够明显吗（别用浅灰底色+白字）？</a:t>
            </a:r>
            <a:endParaRPr lang="en-US" sz="1200" dirty="0"/>
          </a:p>
        </p:txBody>
      </p:sp>
      <p:sp>
        <p:nvSpPr>
          <p:cNvPr id="14" name="Text 12"/>
          <p:cNvSpPr/>
          <p:nvPr/>
        </p:nvSpPr>
        <p:spPr>
          <a:xfrm>
            <a:off x="457200" y="4114800"/>
            <a:ext cx="8229600" cy="548640"/>
          </a:xfrm>
          <a:prstGeom prst="rect">
            <a:avLst/>
          </a:prstGeom>
          <a:noFill/>
          <a:ln/>
        </p:spPr>
        <p:txBody>
          <a:bodyPr wrap="square" rtlCol="0" anchor="ctr"/>
          <a:lstStyle/>
          <a:p>
            <a:pPr algn="l" indent="0" marL="0">
              <a:buNone/>
            </a:pPr>
            <a:r>
              <a:rPr lang="en-US" sz="1200" i="1" dirty="0">
                <a:solidFill>
                  <a:srgbClr val="718096"/>
                </a:solidFill>
                <a:latin typeface="Microsoft YaHei" pitchFamily="34" charset="0"/>
                <a:ea typeface="Microsoft YaHei" pitchFamily="34" charset="-122"/>
                <a:cs typeface="Microsoft YaHei" pitchFamily="34" charset="-120"/>
              </a:rPr>
              <a:t>【截图占位】展示NOVA PPT生成指令和包含图表的数据汇报PPT</a:t>
            </a:r>
            <a:endParaRPr lang="en-US" sz="1200" dirty="0"/>
          </a:p>
        </p:txBody>
      </p:sp>
      <p:sp>
        <p:nvSpPr>
          <p:cNvPr id="15" name="Shape 13"/>
          <p:cNvSpPr/>
          <p:nvPr/>
        </p:nvSpPr>
        <p:spPr>
          <a:xfrm>
            <a:off x="8503920" y="4663440"/>
            <a:ext cx="365760" cy="365760"/>
          </a:xfrm>
          <a:prstGeom prst="ellipse">
            <a:avLst/>
          </a:prstGeom>
          <a:solidFill>
            <a:srgbClr val="86BC25"/>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F11  数据汇报PPT生成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F11 - HOW 详细操作与示例</a:t>
            </a:r>
            <a:endParaRPr lang="en-US" sz="2400" dirty="0"/>
          </a:p>
        </p:txBody>
      </p:sp>
      <p:sp>
        <p:nvSpPr>
          <p:cNvPr id="5" name="Shape 3"/>
          <p:cNvSpPr/>
          <p:nvPr/>
        </p:nvSpPr>
        <p:spPr>
          <a:xfrm>
            <a:off x="411480" y="1737360"/>
            <a:ext cx="8321040" cy="1645920"/>
          </a:xfrm>
          <a:prstGeom prst="roundRect">
            <a:avLst>
              <a:gd name="adj" fmla="val 4444"/>
            </a:avLst>
          </a:prstGeom>
          <a:solidFill>
            <a:srgbClr val="FFFFFF"/>
          </a:solidFill>
          <a:ln w="12700">
            <a:solidFill>
              <a:srgbClr val="CBD5E0"/>
            </a:solidFill>
            <a:prstDash val="solid"/>
          </a:ln>
        </p:spPr>
      </p:sp>
      <p:sp>
        <p:nvSpPr>
          <p:cNvPr id="6" name="Text 4"/>
          <p:cNvSpPr/>
          <p:nvPr/>
        </p:nvSpPr>
        <p:spPr>
          <a:xfrm>
            <a:off x="548640" y="1810512"/>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GDC汇报PPT的标准页数和内容结构（复制这个模板）</a:t>
            </a:r>
            <a:endParaRPr lang="en-US" sz="1400" dirty="0"/>
          </a:p>
        </p:txBody>
      </p:sp>
      <p:sp>
        <p:nvSpPr>
          <p:cNvPr id="7" name="Text 5"/>
          <p:cNvSpPr/>
          <p:nvPr/>
        </p:nvSpPr>
        <p:spPr>
          <a:xfrm>
            <a:off x="548640" y="2103120"/>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第1页：封面（项目名称/期间/汇报人/日期）</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第2页：目录</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第3-4页：核心结论（每页1个结论：如'7月收入异常跳升35%'）+ 趋势图</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第5页：异常明细（表格列出异常月份、金额、占比、可能原因）</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第6页：行业对比（柱状图展示客户vs可比公司的某项比率）</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第7页：已执行程序清单（表格列出程序名称、执行人、状态）</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第8页：待解决问题（哪些问题需要Field协助/客户补充资料）</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第9页：总结和建议（是否需要追加程序/扩大测试范围）</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注意：20分钟的汇报，PPT别超过12页，否则讲不完。</a:t>
            </a:r>
            <a:endParaRPr lang="en-US" sz="1200" dirty="0"/>
          </a:p>
        </p:txBody>
      </p:sp>
      <p:sp>
        <p:nvSpPr>
          <p:cNvPr id="8" name="Shape 6"/>
          <p:cNvSpPr/>
          <p:nvPr/>
        </p:nvSpPr>
        <p:spPr>
          <a:xfrm>
            <a:off x="411480" y="3493008"/>
            <a:ext cx="8321040" cy="1645920"/>
          </a:xfrm>
          <a:prstGeom prst="roundRect">
            <a:avLst>
              <a:gd name="adj" fmla="val 4444"/>
            </a:avLst>
          </a:prstGeom>
          <a:solidFill>
            <a:srgbClr val="FFFFFF"/>
          </a:solidFill>
          <a:ln w="12700">
            <a:solidFill>
              <a:srgbClr val="CBD5E0"/>
            </a:solidFill>
            <a:prstDash val="solid"/>
          </a:ln>
        </p:spPr>
      </p:sp>
      <p:sp>
        <p:nvSpPr>
          <p:cNvPr id="9" name="Text 7"/>
          <p:cNvSpPr/>
          <p:nvPr/>
        </p:nvSpPr>
        <p:spPr>
          <a:xfrm>
            <a:off x="548640" y="3566160"/>
            <a:ext cx="8046720" cy="320040"/>
          </a:xfrm>
          <a:prstGeom prst="rect">
            <a:avLst/>
          </a:prstGeom>
          <a:noFill/>
          <a:ln/>
        </p:spPr>
        <p:txBody>
          <a:bodyPr wrap="square" rtlCol="0" anchor="ctr"/>
          <a:lstStyle/>
          <a:p>
            <a:pPr algn="l" indent="0" marL="0">
              <a:buNone/>
            </a:pPr>
            <a:r>
              <a:rPr lang="en-US" sz="1400" b="1" dirty="0">
                <a:solidFill>
                  <a:srgbClr val="007749"/>
                </a:solidFill>
                <a:latin typeface="Microsoft YaHei" pitchFamily="34" charset="0"/>
                <a:ea typeface="Microsoft YaHei" pitchFamily="34" charset="-122"/>
                <a:cs typeface="Microsoft YaHei" pitchFamily="34" charset="-120"/>
              </a:rPr>
              <a:t>图表选择指南（别说你不知道用什么图）</a:t>
            </a:r>
            <a:endParaRPr lang="en-US" sz="1400" dirty="0"/>
          </a:p>
        </p:txBody>
      </p:sp>
      <p:sp>
        <p:nvSpPr>
          <p:cNvPr id="10" name="Text 8"/>
          <p:cNvSpPr/>
          <p:nvPr/>
        </p:nvSpPr>
        <p:spPr>
          <a:xfrm>
            <a:off x="548640" y="3858768"/>
            <a:ext cx="8046720" cy="11887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看趋势变化→用折线图（如12个月收入走势）</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看多组对比→用分组柱状图（如客户vs行业平均毛利率）</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看占比结构→用饼图（如费用结构：工资/租金/折旧各占多少）</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看异常离群→用散点图+标注（如应收账款周转天数，把异常值标红圈出）</a:t>
            </a:r>
            <a:endParaRPr lang="en-US" sz="1200" dirty="0"/>
          </a:p>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禁忌清单：不要用3D图表（看起来酷但读不准数字）；不要用渐变填充；不要用超过4种颜色；不要把两个Y轴不同的图叠在一起（如左边是营业额右边是利润率）。</a:t>
            </a:r>
            <a:endParaRPr lang="en-US" sz="1200" dirty="0"/>
          </a:p>
        </p:txBody>
      </p:sp>
      <p:sp>
        <p:nvSpPr>
          <p:cNvPr id="11" name="Shape 9"/>
          <p:cNvSpPr/>
          <p:nvPr/>
        </p:nvSpPr>
        <p:spPr>
          <a:xfrm>
            <a:off x="8503920" y="4663440"/>
            <a:ext cx="365760" cy="365760"/>
          </a:xfrm>
          <a:prstGeom prst="ellipse">
            <a:avLst/>
          </a:prstGeom>
          <a:solidFill>
            <a:srgbClr val="86BC25"/>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457200" y="164592"/>
            <a:ext cx="8229600" cy="457200"/>
          </a:xfrm>
          <a:prstGeom prst="rect">
            <a:avLst/>
          </a:prstGeom>
          <a:noFill/>
          <a:ln/>
        </p:spPr>
        <p:txBody>
          <a:bodyPr wrap="square" rtlCol="0" anchor="ctr"/>
          <a:lstStyle/>
          <a:p>
            <a:pPr algn="l" indent="0" marL="0">
              <a:buNone/>
            </a:pPr>
            <a:r>
              <a:rPr lang="en-US" sz="2200" b="1" dirty="0">
                <a:solidFill>
                  <a:srgbClr val="FFFFFF"/>
                </a:solidFill>
                <a:latin typeface="Microsoft YaHei" pitchFamily="34" charset="0"/>
                <a:ea typeface="Microsoft YaHei" pitchFamily="34" charset="-122"/>
                <a:cs typeface="Microsoft YaHei" pitchFamily="34" charset="-120"/>
              </a:rPr>
              <a:t>F11  数据汇报PPT生成</a:t>
            </a:r>
            <a:endParaRPr lang="en-US" sz="2200" dirty="0"/>
          </a:p>
        </p:txBody>
      </p:sp>
      <p:sp>
        <p:nvSpPr>
          <p:cNvPr id="4" name="Text 2"/>
          <p:cNvSpPr/>
          <p:nvPr/>
        </p:nvSpPr>
        <p:spPr>
          <a:xfrm>
            <a:off x="457200" y="1051560"/>
            <a:ext cx="8229600" cy="548640"/>
          </a:xfrm>
          <a:prstGeom prst="rect">
            <a:avLst/>
          </a:prstGeom>
          <a:noFill/>
          <a:ln/>
        </p:spPr>
        <p:txBody>
          <a:bodyPr wrap="square" rtlCol="0" anchor="ctr"/>
          <a:lstStyle/>
          <a:p>
            <a:pPr algn="l" indent="0" marL="0">
              <a:buNone/>
            </a:pPr>
            <a:r>
              <a:rPr lang="en-US" sz="2400" b="1" dirty="0">
                <a:solidFill>
                  <a:srgbClr val="1E3A5F"/>
                </a:solidFill>
                <a:latin typeface="Microsoft YaHei" pitchFamily="34" charset="0"/>
                <a:ea typeface="Microsoft YaHei" pitchFamily="34" charset="-122"/>
                <a:cs typeface="Microsoft YaHei" pitchFamily="34" charset="-120"/>
              </a:rPr>
              <a:t>F11 - WATCH OUT 注意什么？</a:t>
            </a:r>
            <a:endParaRPr lang="en-US" sz="2400" dirty="0"/>
          </a:p>
        </p:txBody>
      </p:sp>
      <p:sp>
        <p:nvSpPr>
          <p:cNvPr id="5" name="Shape 3"/>
          <p:cNvSpPr/>
          <p:nvPr/>
        </p:nvSpPr>
        <p:spPr>
          <a:xfrm>
            <a:off x="411480" y="1691640"/>
            <a:ext cx="8321040" cy="1783080"/>
          </a:xfrm>
          <a:prstGeom prst="roundRect">
            <a:avLst>
              <a:gd name="adj" fmla="val 4103"/>
            </a:avLst>
          </a:prstGeom>
          <a:solidFill>
            <a:srgbClr val="FFFAF0"/>
          </a:solidFill>
          <a:ln w="19050">
            <a:solidFill>
              <a:srgbClr val="ED8936"/>
            </a:solidFill>
            <a:prstDash val="solid"/>
          </a:ln>
        </p:spPr>
      </p:sp>
      <p:sp>
        <p:nvSpPr>
          <p:cNvPr id="6" name="Text 4"/>
          <p:cNvSpPr/>
          <p:nvPr/>
        </p:nvSpPr>
        <p:spPr>
          <a:xfrm>
            <a:off x="548640" y="178308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错误案例：一页PPT塞了8个要点+3张图表+小字说明，Field同事在会议室投影上完全看不清</a:t>
            </a:r>
            <a:endParaRPr lang="en-US" sz="1400" dirty="0"/>
          </a:p>
        </p:txBody>
      </p:sp>
      <p:sp>
        <p:nvSpPr>
          <p:cNvPr id="7" name="Text 5"/>
          <p:cNvSpPr/>
          <p:nvPr/>
        </p:nvSpPr>
        <p:spPr>
          <a:xfrm>
            <a:off x="548640" y="210312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正确做法：每页PPT只讲一个结论，最多2张图表+5个要点。投影时18pt以下的字几乎看不清，建议正文字号不小于18pt，标题不小于24pt。拿不准的时候，把手机拿远1米看看能不能看清。</a:t>
            </a:r>
            <a:endParaRPr lang="en-US" sz="1200" dirty="0"/>
          </a:p>
        </p:txBody>
      </p:sp>
      <p:sp>
        <p:nvSpPr>
          <p:cNvPr id="8" name="Text 6"/>
          <p:cNvSpPr/>
          <p:nvPr/>
        </p:nvSpPr>
        <p:spPr>
          <a:xfrm>
            <a:off x="548640" y="2651760"/>
            <a:ext cx="8046720" cy="320040"/>
          </a:xfrm>
          <a:prstGeom prst="rect">
            <a:avLst/>
          </a:prstGeom>
          <a:noFill/>
          <a:ln/>
        </p:spPr>
        <p:txBody>
          <a:bodyPr wrap="square" rtlCol="0" anchor="ctr"/>
          <a:lstStyle/>
          <a:p>
            <a:pPr algn="l" indent="0" marL="0">
              <a:buNone/>
            </a:pPr>
            <a:r>
              <a:rPr lang="en-US" sz="1400" b="1" dirty="0">
                <a:solidFill>
                  <a:srgbClr val="C05621"/>
                </a:solidFill>
                <a:latin typeface="Microsoft YaHei" pitchFamily="34" charset="0"/>
                <a:ea typeface="Microsoft YaHei" pitchFamily="34" charset="-122"/>
                <a:cs typeface="Microsoft YaHei" pitchFamily="34" charset="-120"/>
              </a:rPr>
              <a:t>错误案例：PPT里的柱状图数字和Excel底稿里的数字对不上，Field当场发现数据矛盾</a:t>
            </a:r>
            <a:endParaRPr lang="en-US" sz="1400" dirty="0"/>
          </a:p>
        </p:txBody>
      </p:sp>
      <p:sp>
        <p:nvSpPr>
          <p:cNvPr id="9" name="Text 7"/>
          <p:cNvSpPr/>
          <p:nvPr/>
        </p:nvSpPr>
        <p:spPr>
          <a:xfrm>
            <a:off x="548640" y="2971800"/>
            <a:ext cx="8046720" cy="45720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正确做法：PPT里的每一个数字、百分比、比率，都必须和Excel底稿逐字核对。PPT是发给管理层和Field的最后交付物，数据错了比不做还严重——说明你的质量复核没做到位。</a:t>
            </a:r>
            <a:endParaRPr lang="en-US" sz="1200" dirty="0"/>
          </a:p>
        </p:txBody>
      </p:sp>
      <p:sp>
        <p:nvSpPr>
          <p:cNvPr id="10" name="Shape 8"/>
          <p:cNvSpPr/>
          <p:nvPr/>
        </p:nvSpPr>
        <p:spPr>
          <a:xfrm>
            <a:off x="411480" y="3611880"/>
            <a:ext cx="8321040" cy="1188720"/>
          </a:xfrm>
          <a:prstGeom prst="roundRect">
            <a:avLst>
              <a:gd name="adj" fmla="val 6154"/>
            </a:avLst>
          </a:prstGeom>
          <a:solidFill>
            <a:srgbClr val="F0FFF4"/>
          </a:solidFill>
          <a:ln w="19050">
            <a:solidFill>
              <a:srgbClr val="38A169"/>
            </a:solidFill>
            <a:prstDash val="solid"/>
          </a:ln>
        </p:spPr>
      </p:sp>
      <p:sp>
        <p:nvSpPr>
          <p:cNvPr id="11" name="Text 9"/>
          <p:cNvSpPr/>
          <p:nvPr/>
        </p:nvSpPr>
        <p:spPr>
          <a:xfrm>
            <a:off x="548640" y="3703320"/>
            <a:ext cx="1828800" cy="320040"/>
          </a:xfrm>
          <a:prstGeom prst="rect">
            <a:avLst/>
          </a:prstGeom>
          <a:noFill/>
          <a:ln/>
        </p:spPr>
        <p:txBody>
          <a:bodyPr wrap="square" rtlCol="0" anchor="ctr"/>
          <a:lstStyle/>
          <a:p>
            <a:pPr algn="l" indent="0" marL="0">
              <a:buNone/>
            </a:pPr>
            <a:r>
              <a:rPr lang="en-US" sz="1400" b="1" dirty="0">
                <a:solidFill>
                  <a:srgbClr val="276749"/>
                </a:solidFill>
                <a:latin typeface="Microsoft YaHei" pitchFamily="34" charset="0"/>
                <a:ea typeface="Microsoft YaHei" pitchFamily="34" charset="-122"/>
                <a:cs typeface="Microsoft YaHei" pitchFamily="34" charset="-120"/>
              </a:rPr>
              <a:t>现场互动</a:t>
            </a:r>
            <a:endParaRPr lang="en-US" sz="1400" dirty="0"/>
          </a:p>
        </p:txBody>
      </p:sp>
      <p:sp>
        <p:nvSpPr>
          <p:cNvPr id="12" name="Text 10"/>
          <p:cNvSpPr/>
          <p:nvPr/>
        </p:nvSpPr>
        <p:spPr>
          <a:xfrm>
            <a:off x="548640" y="3977640"/>
            <a:ext cx="8046720" cy="731520"/>
          </a:xfrm>
          <a:prstGeom prst="rect">
            <a:avLst/>
          </a:prstGeom>
          <a:noFill/>
          <a:ln/>
        </p:spPr>
        <p:txBody>
          <a:bodyPr wrap="square" rtlCol="0" anchor="ctr"/>
          <a:lstStyle/>
          <a:p>
            <a:pPr algn="l" indent="0" marL="0">
              <a:buNone/>
            </a:pPr>
            <a:r>
              <a:rPr lang="en-US" sz="1200" dirty="0">
                <a:solidFill>
                  <a:srgbClr val="2D3748"/>
                </a:solidFill>
                <a:latin typeface="Microsoft YaHei" pitchFamily="34" charset="0"/>
                <a:ea typeface="Microsoft YaHei" pitchFamily="34" charset="-122"/>
                <a:cs typeface="Microsoft YaHei" pitchFamily="34" charset="-120"/>
              </a:rPr>
              <a:t>提供一份'过载'的PPT（一页8个要点+3个小图表+14pt字体），让3个小组分别给出'删减和重组方案'。投票选出最清晰的一版，讨论为什么那版最能让Field团队一眼看懂。</a:t>
            </a:r>
            <a:endParaRPr lang="en-US" sz="1200" dirty="0"/>
          </a:p>
        </p:txBody>
      </p:sp>
      <p:sp>
        <p:nvSpPr>
          <p:cNvPr id="13" name="Shape 11"/>
          <p:cNvSpPr/>
          <p:nvPr/>
        </p:nvSpPr>
        <p:spPr>
          <a:xfrm>
            <a:off x="8503920" y="4663440"/>
            <a:ext cx="365760" cy="365760"/>
          </a:xfrm>
          <a:prstGeom prst="ellipse">
            <a:avLst/>
          </a:prstGeom>
          <a:solidFill>
            <a:srgbClr val="86BC25"/>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2026-06-01T08:12:48Z</dcterms:created>
  <dcterms:modified xsi:type="dcterms:W3CDTF">2026-06-01T08:12:48Z</dcterms:modified>
</cp:coreProperties>
</file>